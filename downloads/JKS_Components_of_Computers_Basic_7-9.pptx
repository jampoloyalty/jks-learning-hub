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e46efb30e4ca3" /><Relationship Type="http://schemas.openxmlformats.org/officeDocument/2006/relationships/extended-properties" Target="/docProps/app.xml" Id="Rde1332fc45d344e9" /><Relationship Type="http://schemas.openxmlformats.org/officeDocument/2006/relationships/officeDocument" Target="/ppt/presentation.xml" Id="R545846bda74346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70457961a14674"/>
  </p:sldMasterIdLst>
  <p:notesMasterIdLst>
    <p:notesMasterId xmlns:r="http://schemas.openxmlformats.org/officeDocument/2006/relationships" r:id="R90fc6ee69a604fe9"/>
  </p:notesMasterIdLst>
  <p:sldIdLst>
    <p:sldId xmlns:r="http://schemas.openxmlformats.org/officeDocument/2006/relationships" id="256" r:id="Rc1a1d18b457b421d"/>
    <p:sldId xmlns:r="http://schemas.openxmlformats.org/officeDocument/2006/relationships" id="257" r:id="R46aa0d3a689243fe"/>
    <p:sldId xmlns:r="http://schemas.openxmlformats.org/officeDocument/2006/relationships" id="258" r:id="R69bd51eb22264cb5"/>
    <p:sldId xmlns:r="http://schemas.openxmlformats.org/officeDocument/2006/relationships" id="259" r:id="R23c35a10cab948b7"/>
    <p:sldId xmlns:r="http://schemas.openxmlformats.org/officeDocument/2006/relationships" id="260" r:id="Re3637de8517f4dbc"/>
    <p:sldId xmlns:r="http://schemas.openxmlformats.org/officeDocument/2006/relationships" id="261" r:id="Rb87fc23972cc43f8"/>
    <p:sldId xmlns:r="http://schemas.openxmlformats.org/officeDocument/2006/relationships" id="262" r:id="R1d258ac9fe884aee"/>
    <p:sldId xmlns:r="http://schemas.openxmlformats.org/officeDocument/2006/relationships" id="263" r:id="Rf0c7ac5261584626"/>
    <p:sldId xmlns:r="http://schemas.openxmlformats.org/officeDocument/2006/relationships" id="264" r:id="R21bac3f52a9b453a"/>
    <p:sldId xmlns:r="http://schemas.openxmlformats.org/officeDocument/2006/relationships" id="265" r:id="Ra588ce16c8ac426f"/>
    <p:sldId xmlns:r="http://schemas.openxmlformats.org/officeDocument/2006/relationships" id="266" r:id="Red9b2a74def44661"/>
    <p:sldId xmlns:r="http://schemas.openxmlformats.org/officeDocument/2006/relationships" id="267" r:id="Rd36c974e27b141ac"/>
    <p:sldId xmlns:r="http://schemas.openxmlformats.org/officeDocument/2006/relationships" id="268" r:id="Rb6f9004bd709447b"/>
    <p:sldId xmlns:r="http://schemas.openxmlformats.org/officeDocument/2006/relationships" id="269" r:id="R287aa89a231848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1c6075cd604369" /><Relationship Type="http://schemas.openxmlformats.org/officeDocument/2006/relationships/slideMaster" Target="/ppt/slideMasters/slideMaster1.xml" Id="R4d70457961a14674" /><Relationship Type="http://schemas.openxmlformats.org/officeDocument/2006/relationships/notesMaster" Target="/ppt/notesMasters/notesMaster1.xml" Id="R90fc6ee69a604fe9" /><Relationship Type="http://schemas.openxmlformats.org/officeDocument/2006/relationships/presProps" Target="/ppt/presProps.xml" Id="R7d8cab6da0cf4b5d" /><Relationship Type="http://schemas.openxmlformats.org/officeDocument/2006/relationships/tableStyles" Target="/ppt/tableStyles.xml" Id="R37f775bdb5334671" /><Relationship Type="http://schemas.openxmlformats.org/officeDocument/2006/relationships/slide" Target="/ppt/slides/slide1.xml" Id="Rc1a1d18b457b421d" /><Relationship Type="http://schemas.openxmlformats.org/officeDocument/2006/relationships/slide" Target="/ppt/slides/slide2.xml" Id="R46aa0d3a689243fe" /><Relationship Type="http://schemas.openxmlformats.org/officeDocument/2006/relationships/slide" Target="/ppt/slides/slide3.xml" Id="R69bd51eb22264cb5" /><Relationship Type="http://schemas.openxmlformats.org/officeDocument/2006/relationships/slide" Target="/ppt/slides/slide4.xml" Id="R23c35a10cab948b7" /><Relationship Type="http://schemas.openxmlformats.org/officeDocument/2006/relationships/slide" Target="/ppt/slides/slide5.xml" Id="Re3637de8517f4dbc" /><Relationship Type="http://schemas.openxmlformats.org/officeDocument/2006/relationships/slide" Target="/ppt/slides/slide6.xml" Id="Rb87fc23972cc43f8" /><Relationship Type="http://schemas.openxmlformats.org/officeDocument/2006/relationships/slide" Target="/ppt/slides/slide7.xml" Id="R1d258ac9fe884aee" /><Relationship Type="http://schemas.openxmlformats.org/officeDocument/2006/relationships/slide" Target="/ppt/slides/slide8.xml" Id="Rf0c7ac5261584626" /><Relationship Type="http://schemas.openxmlformats.org/officeDocument/2006/relationships/slide" Target="/ppt/slides/slide9.xml" Id="R21bac3f52a9b453a" /><Relationship Type="http://schemas.openxmlformats.org/officeDocument/2006/relationships/slide" Target="/ppt/slides/slide10.xml" Id="Ra588ce16c8ac426f" /><Relationship Type="http://schemas.openxmlformats.org/officeDocument/2006/relationships/slide" Target="/ppt/slides/slide11.xml" Id="Red9b2a74def44661" /><Relationship Type="http://schemas.openxmlformats.org/officeDocument/2006/relationships/slide" Target="/ppt/slides/slide12.xml" Id="Rd36c974e27b141ac" /><Relationship Type="http://schemas.openxmlformats.org/officeDocument/2006/relationships/slide" Target="/ppt/slides/slide13.xml" Id="Rb6f9004bd709447b" /><Relationship Type="http://schemas.openxmlformats.org/officeDocument/2006/relationships/slide" Target="/ppt/slides/slide14.xml" Id="R287aa89a231848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9b7d4d9c841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5966dd273415c" /><Relationship Type="http://schemas.openxmlformats.org/officeDocument/2006/relationships/notesMaster" Target="/ppt/notesMasters/notesMaster1.xml" Id="R7d7ffe84b2df49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a4e43721c24390" /><Relationship Type="http://schemas.openxmlformats.org/officeDocument/2006/relationships/notesMaster" Target="/ppt/notesMasters/notesMaster1.xml" Id="R040dada538f0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9fbddfb40f4ced" /><Relationship Type="http://schemas.openxmlformats.org/officeDocument/2006/relationships/notesMaster" Target="/ppt/notesMasters/notesMaster1.xml" Id="Rc01919024b6346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46386d9260461a" /><Relationship Type="http://schemas.openxmlformats.org/officeDocument/2006/relationships/notesMaster" Target="/ppt/notesMasters/notesMaster1.xml" Id="Re92ff3f520da4e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d7f6f0132d47b7" /><Relationship Type="http://schemas.openxmlformats.org/officeDocument/2006/relationships/notesMaster" Target="/ppt/notesMasters/notesMaster1.xml" Id="R89fabde7123343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7918b7365e46b1" /><Relationship Type="http://schemas.openxmlformats.org/officeDocument/2006/relationships/notesMaster" Target="/ppt/notesMasters/notesMaster1.xml" Id="R1a95d25a251d42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d01a79a4e44a02" /><Relationship Type="http://schemas.openxmlformats.org/officeDocument/2006/relationships/notesMaster" Target="/ppt/notesMasters/notesMaster1.xml" Id="R7d460a90d4ad43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79304b825e4f64" /><Relationship Type="http://schemas.openxmlformats.org/officeDocument/2006/relationships/notesMaster" Target="/ppt/notesMasters/notesMaster1.xml" Id="R0881df19d9c641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2b5170ab5140ac" /><Relationship Type="http://schemas.openxmlformats.org/officeDocument/2006/relationships/notesMaster" Target="/ppt/notesMasters/notesMaster1.xml" Id="Rdffd6dbc96da4a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c6410340144d2f" /><Relationship Type="http://schemas.openxmlformats.org/officeDocument/2006/relationships/notesMaster" Target="/ppt/notesMasters/notesMaster1.xml" Id="Rf44d5e28ce1446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c051f72c4840bf" /><Relationship Type="http://schemas.openxmlformats.org/officeDocument/2006/relationships/notesMaster" Target="/ppt/notesMasters/notesMaster1.xml" Id="Rf8dc0c663da64e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7b38dae60f4dfb" /><Relationship Type="http://schemas.openxmlformats.org/officeDocument/2006/relationships/notesMaster" Target="/ppt/notesMasters/notesMaster1.xml" Id="R8668de393fb447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94691a7a8946f0" /><Relationship Type="http://schemas.openxmlformats.org/officeDocument/2006/relationships/notesMaster" Target="/ppt/notesMasters/notesMaster1.xml" Id="R80d45d4da13548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4e2bcefa764f81" /><Relationship Type="http://schemas.openxmlformats.org/officeDocument/2006/relationships/notesMaster" Target="/ppt/notesMasters/notesMaster1.xml" Id="Rac2651d3d9344f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teaching material for JKS Learning Hub. The three supplied book scans were used as study references; no text, diagrams or page layouts have been reproduced.</a:t>
            </a:r>
          </a:p>
          <a:p xmlns:a="http://schemas.openxmlformats.org/drawingml/2006/main">
            <a:r>
              <a:t>This learning chapter is not a NaCCA-approved textbook.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NaCCA, Computing Curriculum, Strand 1: Introduction to Computing, Sub-strand 1: Components of Computers and Computer Systems. Grade indicators B7.1.1.1, B8.1.1.1 and B9.1.1.1.</a:t>
            </a:r>
          </a:p>
          <a:p xmlns:a="http://schemas.openxmlformats.org/drawingml/2006/main">
            <a:r>
              <a:t>https://nacca.gov.gh/wp-content/uploads/2023/06/COMPUTING.pdf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prompt: Ask learners to identify a computer system they see at school, home, a shop or a clinic. Have them name at least one example of hardware, software, data, a person and a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trace the mark example from input to storage. Data are recorded facts; information is data processed into a result that is useful for a purpose.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NaCCA Basic 8 indicator includes direct data-entry devices such as graphics tablets, magnetic and optical card readers, QR code readers and RFID readers. Use local examples learners can observe safely.</a:t>
            </a:r>
          </a:p>
          <a:p xmlns:a="http://schemas.openxmlformats.org/drawingml/2006/main">
            <a:r>
              <a:t>Source: https://nacca.gov.gh/wp-content/uploads/2023/06/COMPUTING.pdf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 understanding: Ask why a touch screen can be both an input and an output device. Expected answer: the display presents information, and the touch sensor captures selection or movement.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is an original simplified teaching illustration. Internal layouts vary between computers. Some devices use system-on-chip designs, where several functions are integrated into one chip.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CPU is not the whole computer and is not the system unit. At this level, describe the control unit, arithmetic-logic unit and registers or cache as parts that assist processing.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what happens to unsaved work if a computer loses power. Distinguish temporary working memory from persistent secondary storage. Avoid claiming that every device uses identical memory or storage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Storage examples are not exhaustive. Current devices may combine several technologies. Ask learners to compare a flash drive and optical disc by use, capacity, portability and handling.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Ask what could go wrong if data are entered incorrectly, a procedure is skipped or a person misinterprets a result. Connect careful checking to safe and reliable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NaCCA Basic 7 indicator covers fourth-generation computers; Basic 8 asks learners to discuss fifth-generation computers with emphasis on quantum computing; Basic 9 covers emerging trends. Google’s documentation describes several Sycamore devices, and the active qubit count depends on the device or subset.</a:t>
            </a:r>
          </a:p>
          <a:p xmlns:a="http://schemas.openxmlformats.org/drawingml/2006/main">
            <a:r>
              <a:t>NaCCA: https://nacca.gov.gh/wp-content/uploads/2023/06/COMPUTING.pdf</a:t>
            </a:r>
          </a:p>
          <a:p xmlns:a="http://schemas.openxmlformats.org/drawingml/2006/main">
            <a:r>
              <a:t>Google Quantum AI Cirq devices: https://quantumai.google/cirq/google/devices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Basic 9 curriculum asks learners to explore perceptual computing and emerging input/output devices. Keep examples balanced: discuss an application and its limitations, including errors, privacy and accessibility.</a:t>
            </a:r>
          </a:p>
          <a:p xmlns:a="http://schemas.openxmlformats.org/drawingml/2006/main">
            <a:r>
              <a:t>Source: https://nacca.gov.gh/wp-content/uploads/2023/06/COMPUTING.pdf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video: Khan Academy and Code.org, “CPU, memory, input &amp; output,” approximately 4:17. https://www.youtube.com/watch?v=MMzdKTtUIFM</a:t>
            </a:r>
          </a:p>
          <a:p xmlns:a="http://schemas.openxmlformats.org/drawingml/2006/main">
            <a:r>
              <a:t>Optional teacher extension: Google Quantum AI, “Building the Future of Quantum Computing.” https://www.youtube.com/watch?v=wrpikLaV5NA</a:t>
            </a:r>
          </a:p>
          <a:p xmlns:a="http://schemas.openxmlformats.org/drawingml/2006/main">
            <a:r>
              <a:t>These are externally hosted videos. Confirm availability and suitability before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81edbfecb45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ede2871264f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0796bb8564e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f1688d6dd44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c9eaf559341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15e65a4d24b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1D3AB1-5DB6-4C5A-9B2F-1860A2F668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84FB00-827C-4859-A9A6-F5B34F51F3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401EA9-8030-43F6-99C8-607C6A63E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D3425B-41CD-4176-B0EE-63C79055E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9BC0CA-79FA-4350-99BC-54B5EC2A9A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BD039B-12BC-4BFF-8EBD-FDBAAB137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979135-9EBA-465D-8C67-68C449B099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F2731E-2E86-4581-A77B-206850AFCA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6DDBCC-BB2E-4524-90B4-E1D67BE91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20D459-AE70-4353-B933-835887A95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47ae55029d4399" /><Relationship Type="http://schemas.openxmlformats.org/officeDocument/2006/relationships/slideLayout" Target="/ppt/slideLayouts/slideLayout1.xml" Id="R37f3e3b9c93d41b7" /><Relationship Type="http://schemas.openxmlformats.org/officeDocument/2006/relationships/slideLayout" Target="/ppt/slideLayouts/slideLayout2.xml" Id="Rcb758fbe928a4be5" /><Relationship Type="http://schemas.openxmlformats.org/officeDocument/2006/relationships/slideLayout" Target="/ppt/slideLayouts/slideLayout3.xml" Id="R4dd22b24532841dc" /><Relationship Type="http://schemas.openxmlformats.org/officeDocument/2006/relationships/slideLayout" Target="/ppt/slideLayouts/slideLayout4.xml" Id="R4ba8faaf641f4b4e" /><Relationship Type="http://schemas.openxmlformats.org/officeDocument/2006/relationships/slideLayout" Target="/ppt/slideLayouts/slideLayout5.xml" Id="R61f9df12036d4578" /><Relationship Type="http://schemas.openxmlformats.org/officeDocument/2006/relationships/slideLayout" Target="/ppt/slideLayouts/slideLayout6.xml" Id="Ra9d4c187db5740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f3e3b9c93d41b7"/>
    <p:sldLayoutId xmlns:r="http://schemas.openxmlformats.org/officeDocument/2006/relationships" id="2147483650" r:id="Rcb758fbe928a4be5"/>
    <p:sldLayoutId xmlns:r="http://schemas.openxmlformats.org/officeDocument/2006/relationships" id="2147483651" r:id="R4dd22b24532841dc"/>
    <p:sldLayoutId xmlns:r="http://schemas.openxmlformats.org/officeDocument/2006/relationships" id="2147483652" r:id="R4ba8faaf641f4b4e"/>
    <p:sldLayoutId xmlns:r="http://schemas.openxmlformats.org/officeDocument/2006/relationships" id="2147483653" r:id="R61f9df12036d4578"/>
    <p:sldLayoutId xmlns:r="http://schemas.openxmlformats.org/officeDocument/2006/relationships" id="2147483654" r:id="Ra9d4c187db5740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9aa824cf64351" /><Relationship Type="http://schemas.openxmlformats.org/officeDocument/2006/relationships/notesSlide" Target="/ppt/notesSlides/notesSlide1.xml" Id="R4c4f547294d84d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52d6f024c487f" /><Relationship Type="http://schemas.openxmlformats.org/officeDocument/2006/relationships/notesSlide" Target="/ppt/notesSlides/notesSlide2.xml" Id="R70e62b0869224a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cf71cd69074c2a" /><Relationship Type="http://schemas.openxmlformats.org/officeDocument/2006/relationships/notesSlide" Target="/ppt/notesSlides/notesSlide3.xml" Id="R1560d6a4b0124c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bf3c4212c4e9a" /><Relationship Type="http://schemas.openxmlformats.org/officeDocument/2006/relationships/notesSlide" Target="/ppt/notesSlides/notesSlide4.xml" Id="Ref4d0019a67f4d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8884a8e654f38" /><Relationship Type="http://schemas.openxmlformats.org/officeDocument/2006/relationships/notesSlide" Target="/ppt/notesSlides/notesSlide5.xml" Id="R59f7e04973494b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1278e054b04b10" /><Relationship Type="http://schemas.openxmlformats.org/officeDocument/2006/relationships/notesSlide" Target="/ppt/notesSlides/notesSlide6.xml" Id="Rdb49f45096cf40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6908ea7d04c03" /><Relationship Type="http://schemas.openxmlformats.org/officeDocument/2006/relationships/notesSlide" Target="/ppt/notesSlides/notesSlide7.xml" Id="R956da7701af140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8b9a8c5c54174" /><Relationship Type="http://schemas.openxmlformats.org/officeDocument/2006/relationships/notesSlide" Target="/ppt/notesSlides/notesSlide8.xml" Id="Ra68468eb89134d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4a685e6ee4848" /><Relationship Type="http://schemas.openxmlformats.org/officeDocument/2006/relationships/notesSlide" Target="/ppt/notesSlides/notesSlide9.xml" Id="R376a6b12776a4b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516ec7ddc4bed" /><Relationship Type="http://schemas.openxmlformats.org/officeDocument/2006/relationships/notesSlide" Target="/ppt/notesSlides/notesSlide10.xml" Id="Rf712c3886d8546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98301fa02f4d04" /><Relationship Type="http://schemas.openxmlformats.org/officeDocument/2006/relationships/notesSlide" Target="/ppt/notesSlides/notesSlide11.xml" Id="Rc3633001062f44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6718adb794454" /><Relationship Type="http://schemas.openxmlformats.org/officeDocument/2006/relationships/notesSlide" Target="/ppt/notesSlides/notesSlide12.xml" Id="Redf6c95a00d140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2ba3faacd4503" /><Relationship Type="http://schemas.openxmlformats.org/officeDocument/2006/relationships/notesSlide" Target="/ppt/notesSlides/notesSlide13.xml" Id="Rdf94b408022f45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c99d4ea114286" /><Relationship Type="http://schemas.openxmlformats.org/officeDocument/2006/relationships/notesSlide" Target="/ppt/notesSlides/notesSlide14.xml" Id="R063d7daa597d4e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4C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D3302-DC87-4353-8AFF-27B4DE6E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525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5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CE9DE-5FBC-401E-AD06-85F8F438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552575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D3A94-EFCB-4B4A-A45A-668DDC74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43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ED39B-2182-46FE-8035-FABB515D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076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24B80-3C23-4550-89AA-7226EEED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76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B29C3-61B2-4CE1-BC91-1BE9C70E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076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9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57133-C940-4C35-B22B-31747EEE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339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9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5B73F-FDEB-41C2-9A02-3B843925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5339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C4290-5409-421A-9133-BB136342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9911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CAD26-F074-4CC5-84FE-607BB9E1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911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D4E6F-258F-4F48-90EB-63E253BD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9911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62A1F-14C4-4F74-B118-5CA2192E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6ED8A"/>
                </a:solidFill>
                <a:latin typeface="Arial"/>
                <a:ea typeface="Arial"/>
                <a:cs typeface="Arial"/>
              </a:rPr>
              <a:t>JKS LOYALTY’S AI &amp; TECHNOLOGIES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09339-5B1D-4B3F-93A4-585308CD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7048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Components of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Computers and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Computer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4AF95-9727-4025-A9B4-809FE61F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5DD"/>
                </a:solidFill>
                <a:latin typeface="Arial"/>
                <a:ea typeface="Arial"/>
                <a:cs typeface="Arial"/>
              </a:rPr>
              <a:t>An original Computing chapter for Basic 7, Basic 8 and Basic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2C0F7-2AEB-48EE-8DCC-5DC1F479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F2C7B-7DFA-4718-8ED3-F06CFA0B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Jampo Kwadwo Sampson  ·  JKS Learning 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08457-D613-4888-82D3-BB93DDC8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6ED8A"/>
                </a:solidFill>
                <a:latin typeface="Arial"/>
                <a:ea typeface="Arial"/>
                <a:cs typeface="Arial"/>
              </a:rPr>
              <a:t>LEARN IT  ·  EXPLAIN IT  ·  APPLY IT</a:t>
            </a:r>
          </a:p>
        </p:txBody>
      </p:sp>
    </p:spTree>
    <p:extLst>
      <p:ext uri="{BB962C8B-B14F-4D97-AF65-F5344CB8AC3E}">
        <p14:creationId xmlns:p14="http://schemas.microsoft.com/office/powerpoint/2010/main" val="1007629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5CBFEE-B5E9-40D8-9B03-949152BB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NACCA CURRICULUM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9E782-3DED-42E5-B868-3A9EEFF2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The topic grows across Basic 7–9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1AD7F-BFF3-4703-B8AC-6B8E7E0E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Study the shared foundations, then focus on the grade-specific emphasis.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69801-5344-44D8-AE7C-53AC48DC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74517-F0D3-47B9-A3ED-BCADC96E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371850" cy="360997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FFFEE-070F-41E3-A117-80181E25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EACE7-E343-4D8E-9F51-A57E639E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BASIC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A5A4E-A8D1-4B38-A623-FB5EE814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B7.1.1.1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5B9D8-BD33-40B5-BE38-B53DF49C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86EC5-8D49-47EF-B077-FEC76A6F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7652C-280D-44EB-9E10-9FACAD4D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099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Computer parts and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CC201-FA94-492F-B287-BD18ECBF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AE30F-56E3-415B-A5D3-CC1ABCC2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909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Fourth-generation computers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BFF79-0041-4184-8D4F-78FFC178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D71B9-C01D-4E36-BAC7-15749DCF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719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Processor, input, output and 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3889F-9D6E-4100-B316-C3A4DB48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NAME · CLASSIFY · DESCRIBE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8F069-5817-454F-BFDE-8229EE13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3371850" cy="360997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1F206-C80C-4006-A648-B7CAFF5B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150C3-FCC1-4328-9935-8852583D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240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19B39"/>
                </a:solidFill>
                <a:latin typeface="Arial"/>
                <a:ea typeface="Arial"/>
                <a:cs typeface="Arial"/>
              </a:rPr>
              <a:t>BASIC 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F99E3-18E5-4856-B301-B6D36015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24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B8.1.1.1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C98FB-3EF1-4FD7-89AF-54AB6F74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384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610E3-2E34-4D5A-97A9-933BAF36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9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1D090-EA15-463A-832D-07D90BF4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099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Computer parts and technology tools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353E7-6160-4B32-9AB3-736A07BF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9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5ED53-A41C-4A89-8B93-E2B6169B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909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Fifth-generation computers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A6164-59C2-439F-BFDC-5D0AA8B9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9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C1C6A-C013-4730-8AE4-B686CA1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719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Quantum computing and direct-entry devices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356E5F-4D3E-4E8B-922A-314535AA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EXPLAIN · COMPARE · APPLY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0D432D-052D-473A-8A53-A5DD79E4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28800"/>
            <a:ext cx="3371850" cy="360997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98A6F-C5B4-42C6-BCEC-6DA76A76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288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7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92EA26-E698-435A-8062-A04843C1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240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A755E"/>
                </a:solidFill>
                <a:latin typeface="Arial"/>
                <a:ea typeface="Arial"/>
                <a:cs typeface="Arial"/>
              </a:rPr>
              <a:t>BASIC 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9BB150-85F4-400E-B4E5-6786B3E8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24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B9.1.1.1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49C4B4-F57A-4849-80B6-98B35463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384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B652E5-2EA9-4F2A-BA16-A79BE628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7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307A8F-CF60-4457-8E75-1AC1145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099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Computer parts and technology tools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C19357-A463-4D93-8B3B-CA898B9A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7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471596-86AB-4F42-A53F-638238AB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7909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Next-generation trends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E0C974-73A2-405A-A146-AD0A3041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7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B79BDC-A9E7-48DB-9059-04747E73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719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Perceptual computing, output and storage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BDCCAE-31E7-4938-8AEF-ADA75560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CONNECT · EVALUATE · APPLY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C5AC16-6D70-452D-9398-B99FA259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8204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5B147E-CEB5-4CDB-9E1C-04D9BF5C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C43"/>
                </a:solidFill>
                <a:latin typeface="Arial"/>
                <a:ea typeface="Arial"/>
                <a:cs typeface="Arial"/>
              </a:rPr>
              <a:t>Revision rule: match your answer to your class indicator and the exact question.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773550-4106-42B4-B0A4-C82ECA9A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EA392F-D0D7-4347-9817-A997D707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0ADAC6-0811-4BB9-94FF-D41328CA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02</a:t>
            </a:r>
          </a:p>
        </p:txBody>
      </p:sp>
    </p:spTree>
    <p:extLst>
      <p:ext uri="{BB962C8B-B14F-4D97-AF65-F5344CB8AC3E}">
        <p14:creationId xmlns:p14="http://schemas.microsoft.com/office/powerpoint/2010/main" val="2077172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401C1F-88A7-4DF3-9387-05A47A6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01 ·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AB80E-F979-481D-8AFB-91DBCA62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A computer works as part of a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07DA5-7105-47A4-8064-062ED2B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A system is a set of connected parts working together to achieve a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6D0A3-C967-4FFE-B547-966FA9FA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76AB5-BF00-4F83-816E-E85398DE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857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1872E-2EF7-4541-9FA9-77FA4C2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BB27E-7412-48A4-B881-F0F9DDA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7B8F9-2DEC-4C8F-968E-A51F293C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9775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Computer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DD428-A6ED-4D89-B624-15618A93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4476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An electronic device that follows instructions to accept data, process it, store it and produce useful results.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DB77C-76B1-4818-8BF1-D2747E17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38325"/>
            <a:ext cx="57531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EC86E-005E-4D7B-B055-A81A34F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1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9E606-FF27-4D0A-A463-B986F756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A6A88-107D-411B-9A29-0424FDB2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Computer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616B8-7C2D-40B7-9E49-51807B70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47925"/>
            <a:ext cx="53721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The connected hardware, software, data, people, procedures and communication links used to complete a task.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FDEA1-7FA4-4E81-8278-D79DDA84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A SCHOOL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EA857-D1FB-4128-90D5-7F0038F3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371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52846-0B58-43E6-B3A4-46C0A22E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A76E8-4E3D-4159-A1B5-7AF569D5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Laptop, keyboard, screen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55EE6-26E4-4118-8E76-3A03FE3C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81475"/>
            <a:ext cx="3371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8FDA1-8C6F-4207-90CD-49C9B570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BB08E-138B-4B06-ADB9-316DCF4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Spreadsheet application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59698-0087-4EC6-8A6D-22A7887E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81475"/>
            <a:ext cx="3371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276B7-62C0-4021-BE1B-B8DBD529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F01EE-085C-4BBE-8FA2-32298F3A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148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Learners’ quiz marks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EBF8B-4DD0-48F7-BF63-C0709966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3371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685A8E-537B-4D5B-AD05-4A423DCB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86BAC-B9EE-43F6-803A-59734AA5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Teacher and learners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6B26D4-4994-47F7-82C3-C777E9A5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38725"/>
            <a:ext cx="3371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21CB47-F8C2-4F4C-BD0B-BB599478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6255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PROCEDURE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46778-357D-462D-8D3E-7B8AA94F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Enter, check, save and share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C36D64-058D-41FA-92CF-A6CE70BB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38725"/>
            <a:ext cx="3371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ED3DD9-B62E-4A69-A060-7116209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6255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687A0E-C17B-421D-8F51-CEA3E2DF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721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Wi-Fi or mobile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75704E-A199-45D6-9F54-EC48051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7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DD5790-C10D-4220-BF82-101DBB20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86475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5D2F"/>
                </a:solidFill>
                <a:latin typeface="Arial"/>
                <a:ea typeface="Arial"/>
                <a:cs typeface="Arial"/>
              </a:rPr>
              <a:t>The case is the system unit. The CPU is the processor inside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352DFD-3B96-4033-8B4E-2421BE13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931D33-5C12-4CDB-A2F5-03CBED4A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82D181-4D3F-4A02-A3DD-29B440F1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03</a:t>
            </a:r>
          </a:p>
        </p:txBody>
      </p:sp>
    </p:spTree>
    <p:extLst>
      <p:ext uri="{BB962C8B-B14F-4D97-AF65-F5344CB8AC3E}">
        <p14:creationId xmlns:p14="http://schemas.microsoft.com/office/powerpoint/2010/main" val="1082238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4D93C2-9FC3-44D5-8FFF-0C5AEA5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02 · HOW A COMPUTER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613FE-CA2D-4553-9737-0B329BE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The IPOS cycle follows data through a computer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B6D80-7D58-4F4C-8EA6-409EB875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Input → Processing → Output → Storage; storage may also happen during other stages.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8200A-2B7A-467B-B301-3AF134F4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D0469-7BF7-453B-9131-71DB7533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4384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6EF0E-4300-4578-A981-8DE44BA9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FED22-A13A-40A4-8714-A2816830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B41FC-F24C-4B28-B4B3-F61E0469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19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E4CF4-2209-432A-AC7E-241CBD44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337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Enter or capture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2F528-0743-4D8F-9196-8C843252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95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Teacher types marks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8EC0B-710D-46D7-B7A1-A183C39E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95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D695F-47DA-4747-8C1B-D406E5DD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24384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3FF70-E08D-4892-9F96-391081AC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99269-63D2-4085-8F0F-497C0354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C9CEA-C338-4F43-94C6-00EB6051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19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84A2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FF70D-1467-431A-8B91-3CF8BB6D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337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Follow instructions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67667-DE96-4D91-B604-39E496BA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095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Calculate class average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7DF60-C84C-4457-9008-0BD2A90F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95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B9061-D8D6-4D8D-AD45-9DCF3DFF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24384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9E776-96F6-4083-990A-2BAB240D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9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21D64-D800-4916-ADF7-9DA7878B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951C8-8429-4DCA-9E75-B2A6DD7D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19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19B39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5E9F7-BD51-4192-B1A9-5AD05AE4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337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Show a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0217F-A2B7-4F27-A1ED-0A14048C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95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Average appears on screen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772F32-B309-4B5B-BEF0-F8BCF834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95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9B247-5E72-4D04-A9CE-F582FA17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4384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C88582-5F1F-4266-A444-B3E666DD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7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DC1174-6F91-47CE-A4BA-E2E8E73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4C5C3-8589-48BA-A7D5-8FCF0C7A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19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A755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CB5E09-D4BA-443C-8A70-603274AB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337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Keep it for later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C294DB-712A-4D6B-BE92-66772F7E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95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Save the spreadsheet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55CAE-2C6F-41F7-AFA1-60E062E1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108204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66FC62-C58A-4775-B1F4-D3011E5A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577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1E8C05-BCFC-469D-83A2-EFBB4B6E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435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>
            <a:def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16 · 18 · 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D161D2-0980-409B-BC88-A1019B58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577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4DBECA-BDBE-474E-8973-501D89AC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3435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>
            <a:def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(16 + 18 + 20) ÷ 3 = 18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6004F1-47A9-488E-BD21-84216AF0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577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284BFB-51EA-4224-A222-69F36AF8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435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>
            <a:def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Class average: 18 marks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50C4BD-CFAD-4CD8-B833-564DB07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D7FEFA-7B3B-4765-8601-A7DEE5E2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65840E-C676-47EB-98FB-0CB5151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04</a:t>
            </a:r>
          </a:p>
        </p:txBody>
      </p:sp>
    </p:spTree>
    <p:extLst>
      <p:ext uri="{BB962C8B-B14F-4D97-AF65-F5344CB8AC3E}">
        <p14:creationId xmlns:p14="http://schemas.microsoft.com/office/powerpoint/2010/main" val="448844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BBC60F-6159-461C-801E-C70C58C7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03 · INPUT AND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558D3-CA3A-4AC7-BC21-FA9BEA84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Input devices send data or control signals 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55A78-BFB5-45A3-8BE3-49115305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Choose the device that matches the kind of data being entered.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59C3-D4B6-4000-ABB7-7C282470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C286D-CE06-4FE3-B1C7-FB1DC7B2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0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57CFD-CC27-4F81-BBFD-C37A5173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07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KEYBOARD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781F6-6092-4550-8916-6FC6FFC6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81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Letters, numbers and 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114F2-D22D-45EC-A237-59D1B83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Type a document or a learner’s 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2C870-3FA7-4E1B-9A08-F91224F2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B0014-D2C6-4A7C-8EEF-1719ED99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MOUSE / TOUCHPAD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D9636-85A9-49CD-8DE5-44DCAD83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Pointer movement and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2EDBF-7F3F-4C22-A0B7-B8A0F2E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Choose a menu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65356-D4A0-4DA1-8A6E-015E614E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0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EBC2E-BFC9-4716-AC61-546EC88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MICROPHONE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E9748-3544-4CAD-BE64-8B7BD594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Sound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5A54E-146A-4BD7-BA70-58CEEA0E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766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Record a spoken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B0881-C32C-4ECD-A44F-BC7EB294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F7573-929C-4FE6-8309-E826469E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CAMERA / SCANNER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D12F1-898E-4AC3-9B52-6DD03822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24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Images and printed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34D1A-595C-4566-B453-05EF853A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243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Capture a QR code or a photograph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42AA2-371B-4FCD-BD93-AA716825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0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18FC0-6173-47AB-AA2B-B0028652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SENSORS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AB9AC-4761-4633-9899-BCE2B445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Measurements from surroundings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D2A567-4E48-437B-9CDB-BBA2BC92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720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Read temperature or movement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41640-4C41-431E-940B-E922C673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51F9A-1F41-4295-A933-2227FAF8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292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CARD / QR / RFID READER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6DE3A-4002-4998-9804-E8C1B449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19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Coded or tagged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88B9D-05A0-4A1A-85AF-C7CF5C1F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197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Read a school ID or tagged item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D524C8-DB9C-420A-B905-14AE0ED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7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4206B5-C763-44EE-A6EB-D537CB85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962650"/>
            <a:ext cx="10420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5D2F"/>
                </a:solidFill>
                <a:latin typeface="Arial"/>
                <a:ea typeface="Arial"/>
                <a:cs typeface="Arial"/>
              </a:rPr>
              <a:t>Exam habit: state the device, the input it captures and a suitable use.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A7A216-48F8-40D8-A8C6-49D9E8C8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27CA6-83DA-4B14-8D86-6F7E6A8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4AFA42-4B00-4320-ADA6-DB33FE5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05</a:t>
            </a:r>
          </a:p>
        </p:txBody>
      </p:sp>
    </p:spTree>
    <p:extLst>
      <p:ext uri="{BB962C8B-B14F-4D97-AF65-F5344CB8AC3E}">
        <p14:creationId xmlns:p14="http://schemas.microsoft.com/office/powerpoint/2010/main" val="567988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096F33-7936-4070-98F5-68830711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03 · INPUT AND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4FC78-61F9-4F2D-B838-3A7C5430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Output devices present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9EF6A-66A8-4185-847C-1DCB5933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An output can be seen, heard, printed or felt. Some devices perform more than one role.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650B3-D53C-4969-A1B3-53C94987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2FEB2-C119-4C29-981E-7740A9CD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38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9390D-AAE8-4A42-B82D-9847659F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4C2A5-BAD7-4D5B-BD9A-3A42E1BF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2766C-A8C4-4C7C-B06A-F8820E3F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669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595DC-4E4B-4E62-A67C-C1016A91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574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Visual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Shows text, images and video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CF70C-B99F-4E87-90FF-3DCAD0B1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438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1588B-8660-4B43-BC5A-BF0B913C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76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1A339-387E-43CC-BA45-48EF9F8F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76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4EC46-A956-4816-81D5-CE0851E1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669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SPEAKER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20A58-344C-492C-8CC8-00F733E0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20574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Audio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Plays sound, speech or alerts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53971-0345-47ED-B3E0-5C35EABA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438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86E0A-EFD0-447D-823B-CAA5F23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76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9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40B73-3CCD-4E85-B1C3-B799F1B8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76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CF00E-AECD-45EA-82A8-AB87FEB4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PRINTER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A1599-267D-46BF-94E4-3844D497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0574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Printed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Produces a paper copy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9A03E-A33D-420E-9C12-EC10C3B1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438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3924B-A129-4138-BA13-F4658197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76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7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9ECD4-9DA3-45E7-B167-D0D71BFF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76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57FA7-63C6-42EC-9735-AD98A24C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PROJECTOR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C100EA-2021-407A-9BF4-CA204FBC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05100"/>
            <a:ext cx="20574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Large visual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Shares a display with a class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5CC23-5B36-4518-81F0-E53A2FC4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7DD98-BB9A-4433-BBC1-DAE987F5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3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4C43"/>
                </a:solidFill>
                <a:latin typeface="Arial"/>
                <a:ea typeface="Arial"/>
                <a:cs typeface="Arial"/>
              </a:rPr>
              <a:t>A touch screen has two roles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A02ACF-17BE-4B4C-9A13-1AF1B5AA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It displays information as output and detects a person’s touch as input.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6498B-D17D-40B3-82C1-796FF6FD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B2008-5D37-4F94-86B0-704C5418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455CA-1871-49B3-A7D3-6A07A157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06</a:t>
            </a:r>
          </a:p>
        </p:txBody>
      </p:sp>
    </p:spTree>
    <p:extLst>
      <p:ext uri="{BB962C8B-B14F-4D97-AF65-F5344CB8AC3E}">
        <p14:creationId xmlns:p14="http://schemas.microsoft.com/office/powerpoint/2010/main" val="2068121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9F3FDE-E826-4768-9EDE-6EEEF513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04 · INSIDE A COMPUTER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E310A-6B39-4C5C-AD72-842818BA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The system unit houses connected internal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F8CF3-E4D8-4DAE-A989-80DA2FDA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The motherboard lets major components communicate; each part has a different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05664-29C7-409E-819C-A7BED91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0E741-2681-49B6-ACC6-544033E4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467475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4BF8B-4FF4-4CB0-A8A8-21215D98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52650"/>
            <a:ext cx="5838825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9FBF8"/>
          </a:solidFill>
          <a:ln xmlns:a="http://schemas.openxmlformats.org/drawingml/2006/main" w="9525">
            <a:solidFill>
              <a:srgbClr val="C5D6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9BF6E-BD6C-41A4-8F3F-4D7FC15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24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MOTHERBOARD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C0378-7A70-4439-BEB7-DA28EF73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86075"/>
            <a:ext cx="216217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164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A5C3F-4BF1-4F65-AA59-C12F1C58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14675"/>
            <a:ext cx="2162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85705-8628-490E-BC7B-6903A7A5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14725"/>
            <a:ext cx="2162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6E5DD"/>
                </a:solidFill>
                <a:latin typeface="Arial"/>
                <a:ea typeface="Arial"/>
                <a:cs typeface="Arial"/>
              </a:rPr>
              <a:t>processes 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646C4-76D3-46EB-921F-550E59C4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1276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026DD-0081-40DE-81AE-B7BA586D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9BF2F-1AC9-47EB-8F25-99B6F16B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working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99B03-1519-4D84-B1A6-7E440100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90850"/>
            <a:ext cx="1276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47B09-F167-492B-8A45-0A34B5BE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1146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16B35-C57F-4713-A602-BFC613B6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099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keeps 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170FA-687F-4F35-8708-05E499CD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1276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2B956-DC40-46A6-9CE5-E335D275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POWER SUPPLY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60D67-0151-4FB8-954B-B812AA1A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577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provides power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E4F35-D00B-43C3-AA96-1043FFBF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2162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E932C-3D73-4173-9488-3332F83C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162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COOLING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A1E80-01F9-4058-9E05-AD359CA0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2162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moves heat away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DCCAF7-CB87-417F-8697-8DC16E16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229100"/>
            <a:ext cx="1276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88F78-959D-4EFC-AF33-8EF3780E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3815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61F2A-9945-4C6B-BB6A-FAC5F67F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577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connects devices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2A314-971B-45D9-8C02-47810022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66900"/>
            <a:ext cx="40100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BB781-DA73-4E73-8779-D809B677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47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10B247-DFB8-4573-92CC-F2C18A58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478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E450B-FBC6-4AF9-97ED-732D48FA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3835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Motherboard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EB3AB2-6760-45A4-9737-0949377B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76500"/>
            <a:ext cx="3629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Main circuit board; carries connectors and pathways for communication.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915B43-E862-4E1F-8E01-93088B51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28975"/>
            <a:ext cx="40100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98418F-25D7-4823-B8DE-F46599DF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18C9D4-3732-4FCA-9DDB-4BD5B25C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09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993382-E42B-4DA4-9860-C276A8C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0042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Processor (CPU)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9FD802-F934-428D-87A6-7A6F14CB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838575"/>
            <a:ext cx="3629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Carries out instructions and calculations.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E688D7-BE93-42BD-B329-371A046E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591050"/>
            <a:ext cx="40100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DEFF6C-CF22-4B65-AE1C-B7520E77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72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5F91E-65D7-4100-B6E0-0AB93B08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720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5E6B63-0DE0-4A25-A699-2E6643B3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76250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Power and cooling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CE2624-AC77-47B0-99A7-F25A802D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00650"/>
            <a:ext cx="3629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Supply electrical power and help keep parts within safe operating temperatures.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F1E19-8901-4722-99AE-CA69AD0A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703514-42E7-420D-9E68-171FA8BD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E9F767-0D05-4A30-B117-2B08D094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07</a:t>
            </a:r>
          </a:p>
        </p:txBody>
      </p:sp>
    </p:spTree>
    <p:extLst>
      <p:ext uri="{BB962C8B-B14F-4D97-AF65-F5344CB8AC3E}">
        <p14:creationId xmlns:p14="http://schemas.microsoft.com/office/powerpoint/2010/main" val="464370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43DEA5-E905-458A-BC45-5DEE7385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04 · INSIDE A COMPUTER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5FC82-5747-4573-BAF0-8A1F187D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The processor follows instructions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1B290-9804-444E-96CF-A48E0D5D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The CPU coordinates processing with memory and other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FD643-C5F3-439C-A00F-23797661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4F3CE-FB8C-464D-8AF2-7C44A8F5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64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E0F8A-ACEF-462D-BB01-DB652356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764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D6ED8A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0E7E3-B615-46F8-8042-74C52915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765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81E76-F906-4EE8-81BA-125EA17B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04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6ED8A"/>
                </a:solidFill>
                <a:latin typeface="Arial"/>
                <a:ea typeface="Arial"/>
                <a:cs typeface="Arial"/>
              </a:rPr>
              <a:t>CONTROL UNIT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B3626-67EC-47B0-AE0C-0D63095A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385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Coordinates instruction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3A461-7E10-4E01-9F65-E217F5F5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67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93442-FE22-4B4B-A59B-87E68358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909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6ED8A"/>
                </a:solidFill>
                <a:latin typeface="Arial"/>
                <a:ea typeface="Arial"/>
                <a:cs typeface="Arial"/>
              </a:rPr>
              <a:t>ARITHMETIC-LOGIC UNIT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95991-6C0F-478A-AD32-5D188F43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29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Performs arithmetic and logical comparisons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EB59C-4819-4A98-A9B2-B251ED64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577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31146-3347-4103-BDB9-DA472F45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1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6ED8A"/>
                </a:solidFill>
                <a:latin typeface="Arial"/>
                <a:ea typeface="Arial"/>
                <a:cs typeface="Arial"/>
              </a:rPr>
              <a:t>REGISTERS / 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D5DBD-DAE1-42B1-B979-C9F13A8D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Hold small amounts of data close to 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308F9-0B9E-4DB9-97ED-13603BF5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81200"/>
            <a:ext cx="4857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C5C4F-922F-4891-921F-8FDA0203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62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01CDA-38E5-4C33-8BAC-B9B4D29E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621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71534-D844-4983-9C34-C446CC5E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5265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Instruction 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CFEF8-A18C-4890-9DE7-6254A10B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0800"/>
            <a:ext cx="4476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Fetch an instruction · decode what it means · execute the required operation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CBFD3-4041-4728-99A6-9E43E464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48577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2B530-F8BD-40BA-862D-6E7E901B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33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7C2A6-AACC-4504-A260-FC88A94C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33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D061C7-C0C8-48D6-8BEC-9AAC19FF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243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Clock speed and cores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B28D5-81D1-4709-9F5E-89F7B0CC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62450"/>
            <a:ext cx="447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A clock rate describes cycles per second. A core can process instructions. Performance also depends on architecture, memory, software and the task.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FEDA1-73CE-4A4F-B609-EB874200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9B828-96B5-49A2-895B-31F7ACB2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3407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5D2F"/>
                </a:solidFill>
                <a:latin typeface="Arial"/>
                <a:ea typeface="Arial"/>
                <a:cs typeface="Arial"/>
              </a:rPr>
              <a:t>Precise wording: CPU = processor chip; system unit = case and its internal components.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AB5EF-E9DD-4769-8C48-47393624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2B7DE-41A8-49E7-9DCF-D0A335B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7F82AE-E516-4A83-A6D4-DF74F030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08</a:t>
            </a:r>
          </a:p>
        </p:txBody>
      </p:sp>
    </p:spTree>
    <p:extLst>
      <p:ext uri="{BB962C8B-B14F-4D97-AF65-F5344CB8AC3E}">
        <p14:creationId xmlns:p14="http://schemas.microsoft.com/office/powerpoint/2010/main" val="8737501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4CFA5B-E90A-49F0-822B-2DC8BCD0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05 · MEMORY AND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1A7D7-12E8-4B06-9541-56232BDF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RAM and storage have different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1C73A-624E-4490-ADCE-09146DBA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Do not describe RAM as a permanent place to keep 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7F27E-927A-449E-B92D-E39F01B5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04BE1-643E-47B4-8A08-6C0372D0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F287D-75C9-458A-9C57-C7511E76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81225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681FA-E1EE-4568-B27E-45EF43DB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19300"/>
            <a:ext cx="398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148E6-36DA-4188-A7F9-6BD4B56B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81225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15114-A6D3-4C17-9BD6-53A0624F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19300"/>
            <a:ext cx="451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C9E9D-42DA-49A6-BEDB-3892403F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81225"/>
            <a:ext cx="424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SECONDARY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FA0E5-96A6-4CB3-9618-6CAAE39C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0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AF6A4-23B5-4095-8280-2A506DD6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Main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92D67-33F6-41B5-B3C6-19EEC13A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33650"/>
            <a:ext cx="3981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0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69DC0-AEDD-4D81-8B92-BDBE1739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Holds data and instructions in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3B158-3E7E-4778-B731-1E6D0B92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33650"/>
            <a:ext cx="451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0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FF6FA-D6E4-40C2-B1AB-8D819769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Keeps programs and files for 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15742-EA28-4FC3-9D10-A5A95A1A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37169-9AB8-4F17-BFDA-567805C7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Power 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FCFF6-60A0-4AFD-A3BF-7153B67C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3981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D6878-8DAC-4A21-83EB-2680EB4D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Most contents are lost when power stops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76A35-752D-4535-B382-F90E91F2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81350"/>
            <a:ext cx="451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04997-FA58-44AE-B038-E41F4517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Files remain saved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E0CDA-9E51-41F8-A7A7-1A71EA1D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0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9682E4-4551-463D-B620-92F4013F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53DBA-C0CA-4C73-844A-46817648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29050"/>
            <a:ext cx="3981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0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30D7A8-F220-4D62-A16D-345DCD23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Computer memory modules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A12E5A-3873-47DF-8082-EE1DE6C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29050"/>
            <a:ext cx="451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0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7CD1E8-EEA9-4A8D-98E1-9EE62C1D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624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SSD, hard drive, flash drive, memory card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8E96B-F3B9-458F-9D79-6EF6DAC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61824D-3522-4F29-A933-0EF4AFAD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Use in class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91526-18D8-4C01-B3E0-76CFE57E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76750"/>
            <a:ext cx="3981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A361B-CDAF-4D7F-91E2-47CCA6A7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Keep an open document ready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F753BE-C747-47D7-AD6F-AC34327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76750"/>
            <a:ext cx="451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10B006-0134-4A3E-AA5D-AA4AAD83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101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Save the lesson file for next week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E56F9C-400D-41D5-AB89-B3194445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19B9B1-AA97-41C9-A353-53E42F99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C43"/>
                </a:solidFill>
                <a:latin typeface="Arial"/>
                <a:ea typeface="Arial"/>
                <a:cs typeface="Arial"/>
              </a:rPr>
              <a:t>Remember: RAM is working space. Storage keeps data after shutdown.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9A453E-41BA-4345-8D47-D669961E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CA9F25-46C6-4509-952A-4B717A60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7E551C-8DD5-4A6B-8F4C-FF21E6AC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09</a:t>
            </a:r>
          </a:p>
        </p:txBody>
      </p:sp>
    </p:spTree>
    <p:extLst>
      <p:ext uri="{BB962C8B-B14F-4D97-AF65-F5344CB8AC3E}">
        <p14:creationId xmlns:p14="http://schemas.microsoft.com/office/powerpoint/2010/main" val="14890393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D24BF6-4759-4ABB-A2D2-5BE3D657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05 · MEMORY AND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5D171-69E4-4B95-8759-6D347B3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Storage devices use different recording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5CF5E-8BC9-4898-B2EF-C9EB60F6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Compare how information is recorded and where learners might see each 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C0B3E-D6B5-46D7-A81E-819223C6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1AE9E-F210-4822-A236-B2468187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33718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3F6CE-EFC3-467D-826D-23710F7A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0E769-E199-4E6A-A06D-47A91F7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FC991-3E80-403B-A6A2-29E8B710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C84A2"/>
                </a:solidFill>
                <a:latin typeface="Arial"/>
                <a:ea typeface="Arial"/>
                <a:cs typeface="Arial"/>
              </a:rPr>
              <a:t>MAGNETIC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32315-228D-4F90-85BC-78D4D744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924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Hard disk drive · magnetic tape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223F7-B33A-456D-BAC1-93BE0A58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909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FAA4B-C705-483E-8CB9-BE7C96DF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6EA23-BEDC-4BDD-835A-2D4F3C9F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Stores data by changing magnetic patterns on a surface.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8E91F-08D7-432C-A789-96CD1F76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43475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A1145-BADF-41B1-B234-4EDFE11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Large files, backups and archives.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D39A9-3968-457F-B3CE-F916F537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05025"/>
            <a:ext cx="33718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7C930-5B18-4954-95E7-F40F132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7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F912A-5277-4F40-9C21-523BD24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041F3-FD08-4664-BEF1-641ABA01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194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A755E"/>
                </a:solidFill>
                <a:latin typeface="Arial"/>
                <a:ea typeface="Arial"/>
                <a:cs typeface="Arial"/>
              </a:rPr>
              <a:t>OPTICAL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C99E4-968C-4067-9F79-30963B74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924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CD · DVD · Blu-ray disc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223E0-D047-4A01-B4D2-CDC480EA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909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60197-B6C8-4E34-B9C8-3DFCE7A5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624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79ABA-D032-4B7F-8A6C-EC3108B2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910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A laser reads marks on a disc.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2262D-0101-4797-BCAE-FB01DF07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43475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E098F-30B7-4662-83DA-F9F3BBC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24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Media distribution and stored files.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C354C-BBF7-4753-B9BF-C747786F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05025"/>
            <a:ext cx="33718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1CA92-B9CE-437E-92B3-2019AC33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B31FC6-9B21-42F2-9C36-A18D4910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3F614-0E92-43D7-8D08-D3387E6F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194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SOLID-STATE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5E87FB-E6CD-430D-9D1F-E4A7074B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2924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SSD · memory card · flash drive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0ED0AE-DB25-4095-AADA-C77B4D6C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909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45EED2-7197-4C0E-84C1-9188B7AE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624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A74775-BD77-4B36-A5DC-654762B2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910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Stores data in electronic flash memory with no moving disc.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F67DCF-6B74-4696-BAB3-CDE2C537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43475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286D6F-D5EF-431D-905E-F3B8C02A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24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922"/>
                </a:solidFill>
                <a:latin typeface="Arial"/>
                <a:ea typeface="Arial"/>
                <a:cs typeface="Arial"/>
              </a:rPr>
              <a:t>Portable files and fast computer storage.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431573-639F-49BD-99E4-3B29CED5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7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CCBE24-C5BC-4EB5-8BE6-27CE8A39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75D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5D2F"/>
                </a:solidFill>
                <a:latin typeface="Arial"/>
                <a:ea typeface="Arial"/>
                <a:cs typeface="Arial"/>
              </a:rPr>
              <a:t>A storage choice depends on capacity, speed, durability, cost and how it will be used.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D884DC-7E8A-4E02-AD95-B123C7A5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F79782-07A4-4463-9EFA-0BCB3235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5EB6C3-4894-45DE-BB03-077D4D64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10</a:t>
            </a:r>
          </a:p>
        </p:txBody>
      </p:sp>
    </p:spTree>
    <p:extLst>
      <p:ext uri="{BB962C8B-B14F-4D97-AF65-F5344CB8AC3E}">
        <p14:creationId xmlns:p14="http://schemas.microsoft.com/office/powerpoint/2010/main" val="5268574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C5205A-C30E-406F-9FDF-C4F71A5A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06 · THE COMPLETE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05E4-B6A5-4452-A576-93A268F3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Hardware needs software, data and people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AD2FF-D119-49BA-96F7-5BAF2F61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A useful result depends on all parts working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004A1-F688-46BE-9B7F-87B6E657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227DE-4243-4E75-BC6D-D1542271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3718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B5802-3977-470A-B48E-98E5F1C0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FAA4E-B964-4E14-8DED-4CCC2C7A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B3CEA-A14E-426D-A21B-15AF33B4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Physical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C4D1B-5F75-4789-8904-EC715D30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Keyboard · processor · monitor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BFE58-4652-47F0-985C-F30A21BA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57400"/>
            <a:ext cx="33718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04A62-66F3-4817-B9E3-35B9B02E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5740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BE2E3-E99E-4EF9-BF13-12D945A4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C84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84A2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6D71F-3ED4-4043-B98B-22FA04C8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Programs and instructions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CDF01-212A-4E17-9109-1DBA6492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Operating system · spreadsheet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D7892-B4CA-4D4C-ABC2-384C2926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57400"/>
            <a:ext cx="33718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AFB6D-E353-4818-BCFC-409713FC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5740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EAF47-151F-4D2D-9688-2E9A7E47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19B39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10E64-F844-4800-A653-A76EB6E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Facts to work 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9D486-CD0F-40F7-BDC9-8E5D8AD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Quiz scores · names · 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ECC3B-A34B-446D-A97F-BB46AF2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3718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44DBF-5F34-4394-9B9D-14CB4FEF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7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5072E-36AF-4957-957F-2359DBFC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A755E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B7315-7701-452C-B28E-58DF7DDB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Users and decision makers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5CB53-EEEE-4D7F-BB00-364E1452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339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Learner · teacher · facilitator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FC753-6251-40B9-80A5-082B6459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38575"/>
            <a:ext cx="33718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68B7C-1ED6-48CD-8DD7-4FC1A7C1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38575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FE603D-E2DB-4CCB-80FC-C5F2DFEE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4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4C43"/>
                </a:solidFill>
                <a:latin typeface="Arial"/>
                <a:ea typeface="Arial"/>
                <a:cs typeface="Arial"/>
              </a:rPr>
              <a:t>PROCEDURES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D7B40-CA1B-4A28-9BDA-39A982BF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Agreed steps for the task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3BF6EF-CAAE-4F50-8EA2-7EBD4F5C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Check → save → protect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22D708-80DF-4FD2-8779-3A5AFB82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38575"/>
            <a:ext cx="33718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27C8A0-A8E0-492A-9DED-E94079B8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38575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B8474-4E9F-46B1-BDC5-7897CCEC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4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COMMUNICATION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072506-0C0C-4B01-82CF-98A53C0F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Links for sharing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36310F-878A-4CF8-B30D-1408B1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339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Wi-Fi · cable · mobile network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DC99F4-3515-4D67-960D-7823E9DE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70680D-E303-486E-9B91-02EB0555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C43"/>
                </a:solidFill>
                <a:latin typeface="Arial"/>
                <a:ea typeface="Arial"/>
                <a:cs typeface="Arial"/>
              </a:rPr>
              <a:t>Computers process data. People decide what the result means and what to do next.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00600A-CDBF-4E21-A84B-5BFA6344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54FA0E-593A-4ACC-BACC-621C4BA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DA977C-7181-4E13-AB45-C10F7113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11</a:t>
            </a:r>
          </a:p>
        </p:txBody>
      </p:sp>
    </p:spTree>
    <p:extLst>
      <p:ext uri="{BB962C8B-B14F-4D97-AF65-F5344CB8AC3E}">
        <p14:creationId xmlns:p14="http://schemas.microsoft.com/office/powerpoint/2010/main" val="8946357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5C0CD-1F0E-4DD2-B6B7-4E3372DC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07 · GENERATIONS AND EMERGING IDEAS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2C219-785E-4342-9074-73354092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Computer generations are a curriculum 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D5E55-48C6-4902-9365-C28DBE6D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Learn the class focus; treat “generation” as a way to discuss major changes in computing.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A0BCE-A700-4891-BBAF-56EC8603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27CF3-E20F-4F1A-9F23-8BA64784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71850" cy="1743075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30A3D-3A7E-4FA9-BF45-4503A26E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027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BASIC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A03A2-FAB2-48DA-92F2-A07753CF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Fourth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BCBEC-8BD4-4370-B6A7-01E3648F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924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Microprocessors using integrated circuits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9C280-71EF-411F-88FB-EE150348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3371850" cy="1743075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97603-1772-425C-9D98-A07BD548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027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19B3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19B39"/>
                </a:solidFill>
                <a:latin typeface="Arial"/>
                <a:ea typeface="Arial"/>
                <a:cs typeface="Arial"/>
              </a:rPr>
              <a:t>BASIC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8D71A-2099-497F-A3F8-2E1BBDC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0507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Fifth 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14D3D-6FC7-4FCC-869C-ABA62993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90850"/>
            <a:ext cx="2924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Curriculum discussion includes quantum computing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1AFBF-801D-4125-A0EE-FB1A0F3A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371850" cy="1743075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2CB9B-DDD0-4B21-B8D3-BAE81492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027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CA755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A755E"/>
                </a:solidFill>
                <a:latin typeface="Arial"/>
                <a:ea typeface="Arial"/>
                <a:cs typeface="Arial"/>
              </a:rPr>
              <a:t>BASIC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E065D-225C-402F-8F7F-83022876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0507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Next-generation trends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1AA43-6827-4920-81EB-0E985944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2924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Explore newer approaches and perceptual computing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A2FCB-D5E2-4E2D-B774-3F795262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64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8790C-6552-4AC9-B05B-75CA94EC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ED8A"/>
                </a:solidFill>
                <a:latin typeface="Arial"/>
                <a:ea typeface="Arial"/>
                <a:cs typeface="Arial"/>
              </a:rPr>
              <a:t>Quantum computing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7C0CB-50D9-4C3B-9F2F-64E18F69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6000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Uses quantum states to process information in ways that differ from classical computers. It is an active research area; it does not replace an ordinary laptop for everyday schoolwork.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BA00F-39F7-40BB-AF81-07529E56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EBF1E-EB53-4437-B5AA-32951408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defPPr>
            <a:lvl1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1pPr>
            <a:lvl2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2pPr>
            <a:lvl3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3pPr>
            <a:lvl4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4pPr>
            <a:lvl5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5pPr>
            <a:lvl6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6pPr>
            <a:lvl7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7pPr>
            <a:lvl8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8pPr>
            <a:lvl9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164C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4C43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5EF07-0F22-495D-8BFE-2990FA71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4481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6ED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6ED8A"/>
                </a:solidFill>
                <a:latin typeface="Arial"/>
                <a:ea typeface="Arial"/>
                <a:cs typeface="Arial"/>
              </a:rPr>
              <a:t>Classroom case study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03B4C-6F8F-486E-AB9A-911571FB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714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Google Sycamore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FD5D9-9B45-4442-B2D0-1B1E46D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673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6E5D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6E5DD"/>
                </a:solidFill>
                <a:latin typeface="Arial"/>
                <a:ea typeface="Arial"/>
                <a:cs typeface="Arial"/>
              </a:rPr>
              <a:t>Use as the curriculum example. Do not compare qubit count directly with classical processor speed.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D40A8B-BBFA-4E36-B29B-A405874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87A52-98B3-48A1-BFF1-B20B234C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3F41BF-79AA-4C5C-A518-B8EFFAF3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12</a:t>
            </a:r>
          </a:p>
        </p:txBody>
      </p:sp>
    </p:spTree>
    <p:extLst>
      <p:ext uri="{BB962C8B-B14F-4D97-AF65-F5344CB8AC3E}">
        <p14:creationId xmlns:p14="http://schemas.microsoft.com/office/powerpoint/2010/main" val="4780232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0E9E2-7861-411E-8640-B48AA1B6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08 · EMERGING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0762D-E656-4E1E-89FF-1368F2C0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Perceptual computing connects sensing and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91E9F-0988-4554-B094-FC4C4347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A system senses input, interprets it, then responds to a person or environment.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A3CEB-A396-4413-8956-724F7934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59749-F5B5-4396-8C96-A87664EA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718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4AADB-7653-4935-9295-D851D7A7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9B020-7969-4291-84F9-A94A6555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30065-C0CD-49FD-8566-C3FEDB66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Camera · microphone · motion sensor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6729F-672A-4947-B401-43F7DDA0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600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B6BDC-8C89-4957-A73E-3C54FFDF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3718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2D7EC-D557-4F79-A087-75E3C7EE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955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892BD-D933-40F3-9208-58A91CED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145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03835-F225-4BF7-88E3-D83BBA75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Software analyses signals or patterns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9431D-54E8-470A-B2A5-2458D614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600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A1574-094F-4CB5-B63E-A495544B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3718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07070-80F6-4393-B702-A35577BF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955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E35FD-5504-4AFB-B174-A1AFB1BE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145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4AAED-64D5-41F5-8BA0-F5A7FCCA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Screen · sound · vibration ·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89A3A-A80A-41CC-A6B8-DE2B778D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1911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2F1A8-D575-4095-80FF-8675442E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6FBBD-84FA-459F-8CCE-71F7ED30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90194-0C72-4DE3-AAB0-09F7574B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4391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AE38A-FC1E-4617-84B5-2BF748A1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810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Voice assistants · face or gesture recognition · accessible speech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43AC3-393D-450B-AC38-D65E3763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53911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F0E2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A1328-A4EE-46CC-87E1-6858585B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62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7F494-B11A-42E9-8764-7D19CE9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62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1BFD71-051D-4CF3-9DAC-E5F20968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Ask about impact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8AFDEC-A5AB-49BD-A501-FD977CD9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5010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Can it help? What data does it use? Could it make a mistake? How can a person correct it?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0CD2BA-22F9-432F-810F-E954250E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E27987-F59B-45FA-8888-D2997FB2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01CB8F-4091-461B-B2EC-D974AD7C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13</a:t>
            </a:r>
          </a:p>
        </p:txBody>
      </p:sp>
    </p:spTree>
    <p:extLst>
      <p:ext uri="{BB962C8B-B14F-4D97-AF65-F5344CB8AC3E}">
        <p14:creationId xmlns:p14="http://schemas.microsoft.com/office/powerpoint/2010/main" val="17362464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C12EA5-8ABC-4B26-AAF5-8759E656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09 · EXAM PRACTICE AND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06966-F23D-4778-96A7-A254A255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Explain a device by its role and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5DE29-C509-4C0E-A712-4E0280D1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36A"/>
                </a:solidFill>
                <a:latin typeface="Arial"/>
                <a:ea typeface="Arial"/>
                <a:cs typeface="Arial"/>
              </a:rPr>
              <a:t>Strong answers connect a definition, a function and a suitable example.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E7C63-BF4A-45BF-AD30-5E69F765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C4869-0BCA-401D-BED8-B2CE2177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4E05E-6617-4B2B-BC08-6B492DDB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75867-5184-4C37-9DFB-2476498F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E3326-B20B-4031-9191-256CA55B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574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What is a computer system? Name three of its parts.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A32F0-A90C-4029-A1AB-2698D956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6C0FC-6AEC-4F74-A272-E3EB8953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7CE13-E26C-45E8-9EE5-4F99DDD4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5A783-03E1-4612-A57F-26AC4B45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574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Trace a class mark from input to processing, output and storage.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82B12-8136-4A35-9DE3-3848E948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5E607-3BDE-4DFC-9196-86845B5E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62D74-29C9-4D49-83AC-0DB65526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A1A79-E2DD-4BA7-98CB-8DACB2BE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861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Explain one difference between RAM and an SSD.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6F52B-2962-44B2-AE27-68E2CEC1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14675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44110-B75F-4584-8ED4-1D88F425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24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5DB5E-6B1F-4B07-BC8C-B9E37DC8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242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08ED5-6284-4BBA-A4B8-FF0454C7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861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Why is a touch screen both an input and an output device?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C13F9-EC04-4BEB-9C6C-542CF462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C52804-022D-4C27-9D27-8AEFE92A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58566-0971-4077-90F4-29E6310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DCE6C-7B05-4813-9BA5-61DB9DB8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148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Give one Basic 8 example of an emerging computing idea.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D77B91-58A6-4021-A677-5D43E5E4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E18262-DED1-4EBC-BA32-2BC4E0E7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CED08A-597F-463B-8ADC-7AD60F79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6E13ED-B01D-457C-8B5B-B4DD066D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2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922"/>
                </a:solidFill>
                <a:latin typeface="Arial"/>
                <a:ea typeface="Arial"/>
                <a:cs typeface="Arial"/>
              </a:rPr>
              <a:t>Describe one benefit and one concern about perceptual computing.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EE70E0-324C-4181-A411-4C7F86F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4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27647-6DFB-4C42-8058-1644B5C4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293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more help: open Notes, Video, Flashcards or Quiz in the JKS Learning Hub topic.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37E4CA-AA17-48BE-B990-4E0FCCAF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143292-2D44-42BE-AB42-6CFE6928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JKS LEARNING HUB  ·  JAMPO KWADWO SAMPSON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23337-639D-4B64-A063-F761F0A4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27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36A"/>
                </a:solidFill>
                <a:latin typeface="Arial"/>
                <a:ea typeface="Arial"/>
                <a:cs typeface="Arial"/>
              </a:rPr>
              <a:t>BASIC 7–9  ·  14</a:t>
            </a:r>
          </a:p>
        </p:txBody>
      </p:sp>
    </p:spTree>
    <p:extLst>
      <p:ext uri="{BB962C8B-B14F-4D97-AF65-F5344CB8AC3E}">
        <p14:creationId xmlns:p14="http://schemas.microsoft.com/office/powerpoint/2010/main" val="1986755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2026-10-19T15:50:20.9470000Z</dcterms:created>
  <dcterms:modified xsi:type="dcterms:W3CDTF">2026-10-19T15:50:20.9470000Z</dcterms:modified>
</coreProperties>
</file>